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91440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828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智御 · OS 智能运维 Agent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1097280" y="2468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OpsGuard Agent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097280" y="3108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用安全护栏架构驾驭 AI 运维的不确定性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617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中国软件杯 · A2 赛题 · 面向麒麟操作系统的安全智能运维 Agent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痛点与挑战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26060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2606040" cy="54864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64592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468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传统运维困境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29260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门槛高 · 风险大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操作不可溯源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37560" y="1371600"/>
            <a:ext cx="26060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37560" y="1371600"/>
            <a:ext cx="260604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64592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2468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运维的核心矛盾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520440" y="29260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推理不确定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可能生成高危/越权命令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17920" y="1371600"/>
            <a:ext cx="26060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17920" y="1371600"/>
            <a:ext cx="260604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645920"/>
            <a:ext cx="640080" cy="6400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0800" y="2468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安全底线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400800" y="29260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难点不是让 AI 会运维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而是让 AI 运维不出事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产品一页纸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260604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260604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64592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3774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自然语言入口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27432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运维人员用自然语言描述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系统自动理解意图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37560" y="1371600"/>
            <a:ext cx="260604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37560" y="1371600"/>
            <a:ext cx="260604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64592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23774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打通 OS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520440" y="27432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标准化工具调用接口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17920" y="1371600"/>
            <a:ext cx="260604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17920" y="1371600"/>
            <a:ext cx="260604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645920"/>
            <a:ext cx="640080" cy="6400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0800" y="23774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安全护栏约束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400800" y="27432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七阶段闭环架构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约束 AI 不确定性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一句话定位：让 AI 运维既智能又安全，出事能溯源，出错能回滚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总体架构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1645920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377440" y="1188720"/>
            <a:ext cx="21031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77440" y="11887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自然语言输入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21031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1887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控制台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949440" y="1188720"/>
            <a:ext cx="21031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0" y="11887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客户端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011680"/>
            <a:ext cx="164592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0116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网关层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377440" y="2011680"/>
            <a:ext cx="21031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77440" y="20116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2011680"/>
            <a:ext cx="21031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20116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(HTTP/stdio)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49440" y="2011680"/>
            <a:ext cx="21031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0" y="20116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流式推送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834640"/>
            <a:ext cx="1645920" cy="640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8346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安全护栏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377440" y="2834640"/>
            <a:ext cx="21031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77440" y="28346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抗注入检测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2834640"/>
            <a:ext cx="21031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28346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意图风险校验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49440" y="2834640"/>
            <a:ext cx="21031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0" y="28346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执行熔断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657600"/>
            <a:ext cx="1645920" cy="6400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36576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能力层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377440" y="3657600"/>
            <a:ext cx="21031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F17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77440" y="36576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环境感知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63440" y="3657600"/>
            <a:ext cx="21031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F17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36576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知识检索 (RAG)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949440" y="3657600"/>
            <a:ext cx="21031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F17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49440" y="36576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跨源 RCA 分析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4480560"/>
            <a:ext cx="1645920" cy="64008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44805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执行层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377440" y="4480560"/>
            <a:ext cx="21031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47556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77440" y="44805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安全命令执行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663440" y="4480560"/>
            <a:ext cx="21031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47556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44805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回滚账本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949440" y="4480560"/>
            <a:ext cx="21031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47556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49440" y="44805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链路溯源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安全护栏七阶段闭环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371600"/>
            <a:ext cx="1097280" cy="22860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371600"/>
            <a:ext cx="109728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459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22860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接收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74320" y="26517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RECEIVE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1389888" y="2468880"/>
            <a:ext cx="13716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536192" y="1371600"/>
            <a:ext cx="1097280" cy="22860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536192" y="1371600"/>
            <a:ext cx="109728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232" y="164592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36192" y="22860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抗注入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536192" y="26517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INJECTION_GUARD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2651760" y="2468880"/>
            <a:ext cx="13716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798064" y="1371600"/>
            <a:ext cx="1097280" cy="22860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2798064" y="1371600"/>
            <a:ext cx="109728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8104" y="164592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798064" y="22860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感知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2798064" y="26517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SENSE</a:t>
            </a:r>
            <a:endParaRPr lang="en-US" sz="800" dirty="0"/>
          </a:p>
        </p:txBody>
      </p:sp>
      <p:sp>
        <p:nvSpPr>
          <p:cNvPr id="21" name="Shape 16"/>
          <p:cNvSpPr/>
          <p:nvPr/>
        </p:nvSpPr>
        <p:spPr>
          <a:xfrm>
            <a:off x="3913632" y="2468880"/>
            <a:ext cx="13716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059936" y="1371600"/>
            <a:ext cx="1097280" cy="22860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059936" y="1371600"/>
            <a:ext cx="109728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9976" y="1645920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059936" y="22860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推理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4059936" y="26517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REASON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5175504" y="2468880"/>
            <a:ext cx="13716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5321808" y="1371600"/>
            <a:ext cx="1097280" cy="22860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5321808" y="1371600"/>
            <a:ext cx="109728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1848" y="1645920"/>
            <a:ext cx="457200" cy="45720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321808" y="22860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校验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5321808" y="26517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</a:t>
            </a:r>
            <a:endParaRPr lang="en-US" sz="800" dirty="0"/>
          </a:p>
        </p:txBody>
      </p:sp>
      <p:sp>
        <p:nvSpPr>
          <p:cNvPr id="33" name="Shape 26"/>
          <p:cNvSpPr/>
          <p:nvPr/>
        </p:nvSpPr>
        <p:spPr>
          <a:xfrm>
            <a:off x="6437376" y="2468880"/>
            <a:ext cx="13716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6583680" y="1371600"/>
            <a:ext cx="1097280" cy="22860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6583680" y="1371600"/>
            <a:ext cx="109728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3720" y="1645920"/>
            <a:ext cx="457200" cy="45720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583680" y="22860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</a:t>
            </a:r>
            <a:endParaRPr lang="en-US" sz="1400" dirty="0"/>
          </a:p>
        </p:txBody>
      </p:sp>
      <p:sp>
        <p:nvSpPr>
          <p:cNvPr id="38" name="Text 30"/>
          <p:cNvSpPr/>
          <p:nvPr/>
        </p:nvSpPr>
        <p:spPr>
          <a:xfrm>
            <a:off x="6583680" y="26517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</a:t>
            </a:r>
            <a:endParaRPr lang="en-US" sz="800" dirty="0"/>
          </a:p>
        </p:txBody>
      </p:sp>
      <p:sp>
        <p:nvSpPr>
          <p:cNvPr id="39" name="Shape 31"/>
          <p:cNvSpPr/>
          <p:nvPr/>
        </p:nvSpPr>
        <p:spPr>
          <a:xfrm>
            <a:off x="7699248" y="2468880"/>
            <a:ext cx="13716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7845552" y="1371600"/>
            <a:ext cx="1097280" cy="22860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7845552" y="1371600"/>
            <a:ext cx="109728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65592" y="1645920"/>
            <a:ext cx="457200" cy="457200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7845552" y="22860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</a:t>
            </a:r>
            <a:endParaRPr lang="en-US" sz="1400" dirty="0"/>
          </a:p>
        </p:txBody>
      </p:sp>
      <p:sp>
        <p:nvSpPr>
          <p:cNvPr id="44" name="Text 35"/>
          <p:cNvSpPr/>
          <p:nvPr/>
        </p:nvSpPr>
        <p:spPr>
          <a:xfrm>
            <a:off x="7845552" y="26517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ANALYZE</a:t>
            </a:r>
            <a:endParaRPr lang="en-US" sz="800" dirty="0"/>
          </a:p>
        </p:txBody>
      </p:sp>
      <p:sp>
        <p:nvSpPr>
          <p:cNvPr id="45" name="Text 36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每一步都可溯源 · 全链路 JSONL 闭环日志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创新点一：三级意图风险校验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73152" cy="10515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80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103120" y="1280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自动执行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0" y="128016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只读类操作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系统体检、日志查看、状态查询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417320"/>
            <a:ext cx="411480" cy="4114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57200" y="242316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" y="2423160"/>
            <a:ext cx="73152" cy="10515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2514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2103120" y="2514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人工确认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114800" y="251460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变更类操作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服务重启、配置修改、磁盘清理</a:t>
            </a:r>
            <a:endParaRPr lang="en-US" sz="12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2651760"/>
            <a:ext cx="411480" cy="41148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57200" y="365760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" y="3657600"/>
            <a:ext cx="73152" cy="10515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Text 14"/>
          <p:cNvSpPr/>
          <p:nvPr/>
        </p:nvSpPr>
        <p:spPr>
          <a:xfrm>
            <a:off x="731520" y="3749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2103120" y="3749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直接拦截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4114800" y="374904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危险操作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-rf、格式化、数据库 DROP</a:t>
            </a:r>
            <a:endParaRPr lang="en-US" sz="12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886200"/>
            <a:ext cx="411480" cy="4114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规则库与代码解耦（risk-rules.yaml），支持热更新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创新点二：双重防护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4114800" cy="3474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146304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103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应用层防护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1520" y="2468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IntentRiskGuard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14400" y="292608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三级意图风险裁决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提示词注入检测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危险命令正则拦截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安全评分 + 反事实回放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846320" y="1188720"/>
            <a:ext cx="4114800" cy="3474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46320" y="1188720"/>
            <a:ext cx="4114800" cy="54864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46304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20640" y="2103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层防护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5120640" y="2468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sudoers 白名单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303520" y="292608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sudoers 命令白名单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argv 执行不经过 shell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dry-run 默认模式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最小权限原则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创新点三：抗注入 + 闭环溯源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73152" cy="320040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371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提示词注入防御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201168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中英文注入模式检测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角色扮演 / 系统提示泄露拦截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种注入类型全覆盖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入口拦截，不进入推理环节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118872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188720"/>
            <a:ext cx="73152" cy="320040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0" y="1371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闭环溯源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029200" y="201168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JSONL 全链路日志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traceId 贯穿 7 阶段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一键导出处置报告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支持事后复盘审计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现场演示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188720"/>
            <a:ext cx="274320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27432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场景 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磁盘清理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用户请求清理日志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REVIEW 人工确认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确认后执行 + 回滚账本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237744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657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REVIEW_PENDING → EXECUTED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188720"/>
            <a:ext cx="274320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188720"/>
            <a:ext cx="274320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1371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场景 B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0" y="1737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误删数据库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383280" y="219456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-rf /var/lib/mysql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BLOCK 直接拦截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拒绝执行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83280" y="3657600"/>
            <a:ext cx="2377440" cy="3657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3383280" y="3657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1188720"/>
            <a:ext cx="274320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188720"/>
            <a:ext cx="274320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1371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场景 C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09360" y="1737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提示词注入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309360" y="219456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忽略之前的指令...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入口拦截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INJECTION_BLOCKED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09360" y="3657600"/>
            <a:ext cx="2377440" cy="3657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4" name="Text 22"/>
          <p:cNvSpPr/>
          <p:nvPr/>
        </p:nvSpPr>
        <p:spPr>
          <a:xfrm>
            <a:off x="6309360" y="3657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INJECTION_BLOCKED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价值量化：45 分钟 → 18 分钟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场景：磁盘告警 + Nginx 5xx 升高的跨源故障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3200400"/>
        </p:xfrm>
        <a:graphic>
          <a:graphicData uri="http://schemas.openxmlformats.org/drawingml/2006/table">
            <a:tbl>
              <a:tblPr/>
              <a:tblGrid>
                <a:gridCol w="2011680"/>
                <a:gridCol w="1097280"/>
                <a:gridCol w="1097280"/>
                <a:gridCol w="4023360"/>
              </a:tblGrid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阶段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手工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智御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提效关键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环境接入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自然语言入口、免逐机登录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多源信息收集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自动环境感知 + 知识检索并行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根因定位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跨源 RCA 自动关联 L1–L3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方案与风险评估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安全评分 + 反事实回放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变更执行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人工确认 + 回滚账本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复盘留痕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全链路自动溯源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总计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提效约 60%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护栏没有拖慢效率，反而把「安全」做成了默认项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国产化适配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188720"/>
            <a:ext cx="2057400" cy="2743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205740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46304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21945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LoongArch 架构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11480" y="26517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龙芯处理器原生适配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无需模拟层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514600" y="1188720"/>
            <a:ext cx="2057400" cy="2743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514600" y="1188720"/>
            <a:ext cx="205740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46304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51760" y="21945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麒麟 V11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2651760" y="26517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银河麒麟高级服务器版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国产操作系统认证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754880" y="1188720"/>
            <a:ext cx="2057400" cy="2743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754880" y="1188720"/>
            <a:ext cx="205740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46304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892040" y="21945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国产开源模型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892040" y="26517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/ Qwen3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无需外部 API Key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995160" y="1188720"/>
            <a:ext cx="2057400" cy="2743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995160" y="1188720"/>
            <a:ext cx="205740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1463040"/>
            <a:ext cx="548640" cy="5486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21945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JDK 17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132320" y="26517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毕昇 JDK / OpenJDK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国产化全栈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 API Key / 无 root 即可演示，纯国产化技术栈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测试与性能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097280"/>
            <a:ext cx="20574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23444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33/33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74320" y="20574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单元测试全绿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14600" y="1097280"/>
            <a:ext cx="20574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14600" y="123444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48/48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514600" y="20574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红蓝对抗全过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20574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123444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19/19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754880" y="20574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验收测试全过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95160" y="1097280"/>
            <a:ext cx="20574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95160" y="123444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15/15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995160" y="20574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协议合规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82296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320040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四道护栏 + 执行轮次熔断 + 一键回滚 + 跨源根因，全链路验证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攻击拦截率 100%，正常命令误拦率 0%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JaCoCo 行覆盖率 45.6%，分支覆盖率 25%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默认 dry-run 模式，安全可复现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54864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280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总结与展望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1097280" y="201168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护栏架构可复用于更多高危 Agent 场景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七阶段闭环 + MCP 标准化 = 可插拔的安全运维框架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国产化全栈适配，信创场景落地就绪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97280" y="3291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后续规划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97280" y="36576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感知并行化，提升巡检效率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多节点纳管，支持集群运维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规则可视化编辑，降低配置门槛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智御 · OS 智能运维 Agent</dc:title>
  <dc:subject>PptxGenJS Presentation</dc:subject>
  <dc:creator>OpsGuard Team</dc:creator>
  <cp:lastModifiedBy>OpsGuard Team</cp:lastModifiedBy>
  <cp:revision>1</cp:revision>
  <dcterms:created xsi:type="dcterms:W3CDTF">2026-06-20T06:51:53Z</dcterms:created>
  <dcterms:modified xsi:type="dcterms:W3CDTF">2026-06-20T06:51:53Z</dcterms:modified>
</cp:coreProperties>
</file>